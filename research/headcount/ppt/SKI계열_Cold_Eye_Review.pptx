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21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906000" cy="6858000" type="A4"/>
  <p:notesSz cx="6805613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공통_진행 경과" id="{7EDDE22A-E2F6-4458-964A-857AA136F903}">
          <p14:sldIdLst>
            <p14:sldId id="2147480128"/>
            <p14:sldId id="989"/>
            <p14:sldId id="2147480124"/>
            <p14:sldId id="2147480126"/>
            <p14:sldId id="2147480127"/>
          </p14:sldIdLst>
        </p14:section>
        <p14:section name="일하는 방식" id="{A5A48E84-C7A2-45DD-A354-08C7641EFDE7}">
          <p14:sldIdLst>
            <p14:sldId id="903"/>
            <p14:sldId id="967"/>
            <p14:sldId id="988"/>
            <p14:sldId id="945"/>
            <p14:sldId id="970"/>
            <p14:sldId id="933"/>
            <p14:sldId id="973"/>
            <p14:sldId id="974"/>
            <p14:sldId id="936"/>
            <p14:sldId id="939"/>
            <p14:sldId id="940"/>
            <p14:sldId id="971"/>
            <p14:sldId id="938"/>
            <p14:sldId id="2147480129"/>
          </p14:sldIdLst>
        </p14:section>
        <p14:section name="일과 회복" id="{E5AA6EEB-D32A-4F62-AAC1-4389F595F5D1}">
          <p14:sldIdLst/>
        </p14:section>
        <p14:section name="일과 AX" id="{118345E4-BEFF-4A9C-9084-8C36D896353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25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96D"/>
    <a:srgbClr val="FF6600"/>
    <a:srgbClr val="FF7C80"/>
    <a:srgbClr val="008080"/>
    <a:srgbClr val="FFFFCC"/>
    <a:srgbClr val="393B56"/>
    <a:srgbClr val="FBFCFC"/>
    <a:srgbClr val="FBC501"/>
    <a:srgbClr val="041C3B"/>
    <a:srgbClr val="FBFC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D0B99-E66F-4A1D-9F6B-04EA1E9CD2A3}" v="4307" dt="2026-10-02T06:34:11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45" autoAdjust="0"/>
    <p:restoredTop sz="96233" autoAdjust="0"/>
  </p:normalViewPr>
  <p:slideViewPr>
    <p:cSldViewPr snapToGrid="0" showGuides="1">
      <p:cViewPr varScale="1">
        <p:scale>
          <a:sx n="106" d="100"/>
          <a:sy n="106" d="100"/>
        </p:scale>
        <p:origin x="1122" y="114"/>
      </p:cViewPr>
      <p:guideLst>
        <p:guide orient="horz" pos="1253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매출(조원)</c:v>
                </c:pt>
              </c:strCache>
            </c:strRef>
          </c:tx>
          <c:dPt>
            <c:idx val="0"/>
            <c:spPr>
              <a:solidFill>
                <a:srgbClr val="002060"/>
              </a:solidFill>
            </c:spPr>
          </c:dPt>
          <c:dPt>
            <c:idx val="1"/>
            <c:spPr>
              <a:solidFill>
                <a:srgbClr val="002060"/>
              </a:solidFill>
            </c:spPr>
          </c:dPt>
          <c:dPt>
            <c:idx val="2"/>
            <c:spPr>
              <a:solidFill>
                <a:srgbClr val="629DD1"/>
              </a:solidFill>
            </c:spPr>
          </c:dPt>
          <c:dPt>
            <c:idx val="3"/>
            <c:spPr>
              <a:solidFill>
                <a:srgbClr val="629DD1"/>
              </a:solidFill>
            </c:spPr>
          </c:dPt>
          <c:dPt>
            <c:idx val="4"/>
            <c:spPr>
              <a:solidFill>
                <a:srgbClr val="A6A6A6"/>
              </a:solidFill>
            </c:spPr>
          </c:dPt>
          <c:cat>
            <c:strRef>
              <c:f>Sheet1!$A$2:$A$6</c:f>
              <c:strCache>
                <c:ptCount val="5"/>
                <c:pt idx="0">
                  <c:v>SK온 석유사업</c:v>
                </c:pt>
                <c:pt idx="1">
                  <c:v>SK에너지</c:v>
                </c:pt>
                <c:pt idx="2">
                  <c:v>SK지오센트릭(화학)</c:v>
                </c:pt>
                <c:pt idx="3">
                  <c:v>SK온 윤활유(11~12월)</c:v>
                </c:pt>
                <c:pt idx="4">
                  <c:v>그 밖의 계열·조정(잔여)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49.0</c:v>
                </c:pt>
                <c:pt idx="1">
                  <c:v>39.3</c:v>
                </c:pt>
                <c:pt idx="2">
                  <c:v>11.5</c:v>
                </c:pt>
                <c:pt idx="3">
                  <c:v>0.8</c:v>
                </c:pt>
                <c:pt idx="4">
                  <c:v>34.1</c:v>
                </c:pt>
              </c:numCache>
            </c:numRef>
          </c:val>
        </c:ser>
        <c:dLbls>
          <c:numFmt formatCode="0.0&quot;조&quot;" sourceLinked="0"/>
          <c:txPr>
            <a:bodyPr/>
            <a:lstStyle/>
            <a:p>
              <a:pPr>
                <a:defRPr sz="1000">
                  <a:solidFill>
                    <a:srgbClr val="1A1A1A"/>
                  </a:solidFill>
                  <a:latin typeface="나눔스퀘어 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50">
                <a:solidFill>
                  <a:srgbClr val="1A1A1A"/>
                </a:solidFill>
                <a:latin typeface="나눔스퀘어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매출(조원)</c:v>
                </c:pt>
              </c:strCache>
            </c:strRef>
          </c:tx>
          <c:dPt>
            <c:idx val="0"/>
            <c:spPr>
              <a:solidFill>
                <a:srgbClr val="002060"/>
              </a:solidFill>
            </c:spPr>
          </c:dPt>
          <c:dPt>
            <c:idx val="1"/>
            <c:spPr>
              <a:solidFill>
                <a:srgbClr val="629DD1"/>
              </a:solidFill>
            </c:spPr>
          </c:dPt>
          <c:dPt>
            <c:idx val="2"/>
            <c:spPr>
              <a:solidFill>
                <a:srgbClr val="629DD1"/>
              </a:solidFill>
            </c:spPr>
          </c:dPt>
          <c:dPt>
            <c:idx val="3"/>
            <c:spPr>
              <a:solidFill>
                <a:srgbClr val="A6A6A6"/>
              </a:solidFill>
            </c:spPr>
          </c:dPt>
          <c:dPt>
            <c:idx val="4"/>
            <c:spPr>
              <a:solidFill>
                <a:srgbClr val="D9D9D9"/>
              </a:solidFill>
            </c:spPr>
          </c:dPt>
          <c:cat>
            <c:strRef>
              <c:f>Sheet1!$A$2:$A$6</c:f>
              <c:strCache>
                <c:ptCount val="5"/>
                <c:pt idx="0">
                  <c:v>석유사업</c:v>
                </c:pt>
                <c:pt idx="1">
                  <c:v>화학사업</c:v>
                </c:pt>
                <c:pt idx="2">
                  <c:v>윤활유사업</c:v>
                </c:pt>
                <c:pt idx="3">
                  <c:v>기타(잔여)</c:v>
                </c:pt>
                <c:pt idx="4">
                  <c:v>내부거래 제거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47.2</c:v>
                </c:pt>
                <c:pt idx="1">
                  <c:v>8.9</c:v>
                </c:pt>
                <c:pt idx="2">
                  <c:v>3.8</c:v>
                </c:pt>
                <c:pt idx="3">
                  <c:v>1.4</c:v>
                </c:pt>
                <c:pt idx="4">
                  <c:v>73.3</c:v>
                </c:pt>
              </c:numCache>
            </c:numRef>
          </c:val>
        </c:ser>
        <c:dLbls>
          <c:numFmt formatCode="0.0&quot;조&quot;" sourceLinked="0"/>
          <c:txPr>
            <a:bodyPr/>
            <a:lstStyle/>
            <a:p>
              <a:pPr>
                <a:defRPr sz="1000">
                  <a:solidFill>
                    <a:srgbClr val="1A1A1A"/>
                  </a:solidFill>
                  <a:latin typeface="나눔스퀘어 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50">
                <a:solidFill>
                  <a:srgbClr val="1A1A1A"/>
                </a:solidFill>
                <a:latin typeface="나눔스퀘어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F2D98-8982-4CBA-8685-332ADFD46D9F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3013"/>
            <a:ext cx="484663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3537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4BD08-D988-45D5-A5F9-930A09055D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233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CDA90-CA0E-4334-95C1-19C5CB83491C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66AD1-3E4E-49AB-A7F9-67C30DF50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196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CDA90-CA0E-4334-95C1-19C5CB83491C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66AD1-3E4E-49AB-A7F9-67C30DF50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020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346" userDrawn="1">
          <p15:clr>
            <a:srgbClr val="FBAE40"/>
          </p15:clr>
        </p15:guide>
        <p15:guide id="4" orient="horz" pos="709" userDrawn="1">
          <p15:clr>
            <a:srgbClr val="FBAE40"/>
          </p15:clr>
        </p15:guide>
        <p15:guide id="5" pos="172" userDrawn="1">
          <p15:clr>
            <a:srgbClr val="FBAE40"/>
          </p15:clr>
        </p15:guide>
        <p15:guide id="6" pos="6068" userDrawn="1">
          <p15:clr>
            <a:srgbClr val="FBAE40"/>
          </p15:clr>
        </p15:guide>
        <p15:guide id="7" pos="3256" userDrawn="1">
          <p15:clr>
            <a:srgbClr val="FBAE40"/>
          </p15:clr>
        </p15:guide>
        <p15:guide id="8" pos="2984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CDA90-CA0E-4334-95C1-19C5CB83491C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66AD1-3E4E-49AB-A7F9-67C30DF50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98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548640" y="1874519"/>
            <a:ext cx="8805672" cy="8686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48640" y="1874519"/>
            <a:ext cx="8805672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300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SK이노베이션 계열  Cold Eye Review</a:t>
            </a:r>
          </a:p>
        </p:txBody>
      </p:sp>
      <p:sp>
        <p:nvSpPr>
          <p:cNvPr id="4" name="Contents"/>
          <p:cNvSpPr txBox="1"/>
          <p:nvPr/>
        </p:nvSpPr>
        <p:spPr>
          <a:xfrm>
            <a:off x="731520" y="2926080"/>
            <a:ext cx="7772400" cy="1463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spcAft>
                <a:spcPts val="600"/>
              </a:spcAft>
              <a:buFont typeface="Arial"/>
              <a:buChar char="■"/>
            </a:pPr>
            <a:r>
              <a:rPr sz="12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총평 및 부문별 성적표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■"/>
            </a:pPr>
            <a:r>
              <a:rPr sz="12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사업부문별 리뷰: 회사 목표 → 목표 대비 판정 → CEO 최우선 과제</a:t>
            </a:r>
          </a:p>
          <a:p>
            <a:pPr algn="l" marL="292608" indent="-146304">
              <a:spcAft>
                <a:spcPts val="600"/>
              </a:spcAft>
              <a:buFont typeface="Arial"/>
              <a:buChar char="□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석유  ·  화학  ·  윤활유  ·  배터리  ·  E&amp;S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■"/>
            </a:pPr>
            <a:r>
              <a:rPr sz="12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그룹 재무, 다음 분기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880567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’26.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89320"/>
            <a:ext cx="880567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기준: 2025 사업보고서(2025.12.31) 및 2026년 공개 자료 · 투자 권유 아님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9326880" y="65196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 txBox="1"/>
          <p:nvPr/>
        </p:nvSpPr>
        <p:spPr>
          <a:xfrm>
            <a:off x="274320" y="201168"/>
            <a:ext cx="89611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1800" b="0" i="0" spc="-30">
                <a:solidFill>
                  <a:srgbClr val="A6A6A6"/>
                </a:solidFill>
                <a:latin typeface="나눔스퀘어"/>
                <a:ea typeface="나눔스퀘어"/>
                <a:cs typeface="나눔스퀘어"/>
              </a:rPr>
              <a:t>총평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   |   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부문별 성적표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274320" y="749808"/>
            <a:ext cx="935431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정유는 펌프, 윤활유·E&amp;S는 금고, 배터리는 블랙홀. 2026년 반등은 유가·보상금 효과를 걷어내고 봐야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22402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22402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20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80.3조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83080"/>
            <a:ext cx="22402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9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연결 매출 ('25)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633472" y="1325880"/>
            <a:ext cx="22402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633472" y="1371600"/>
            <a:ext cx="22402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20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0.45조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1783080"/>
            <a:ext cx="22402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9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연결 영업이익 (이익률 0.6%)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92624" y="1325880"/>
            <a:ext cx="22402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992624" y="1371600"/>
            <a:ext cx="22402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2000" b="1" i="0" spc="-30">
                <a:solidFill>
                  <a:srgbClr val="C0392B"/>
                </a:solidFill>
                <a:latin typeface="나눔스퀘어 ExtraBold"/>
                <a:ea typeface="나눔스퀘어 ExtraBold"/>
                <a:cs typeface="나눔스퀘어 ExtraBold"/>
              </a:rPr>
              <a:t>−3.35조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4" y="1783080"/>
            <a:ext cx="22402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9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지배주주 순손실 ('25)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51776" y="1325880"/>
            <a:ext cx="22402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51776" y="1371600"/>
            <a:ext cx="22402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200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5.6조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6" y="1783080"/>
            <a:ext cx="22402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9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'26 상반기 영업이익 (보도)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2331720"/>
          <a:ext cx="9354311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874519"/>
                <a:gridCol w="731520"/>
                <a:gridCol w="960120"/>
                <a:gridCol w="731520"/>
                <a:gridCol w="1783080"/>
                <a:gridCol w="2496312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부문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주 법인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'25 매출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'25 영업이익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이익률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목표 판정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한 줄 평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석유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SK에너지, SK온(트레이딩)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47.2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C0392B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−0.17*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C0392B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−0.4%*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진전1 · 미확인2 · 미달1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매출은 착시, 이익은 유가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화학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SK지오센트릭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8.9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C0392B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−0.15*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C0392B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−1.3%*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진전1 · 미확인2 · 미달2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덜 잃는 게 목표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윤활유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옛 SK엔무브(현 SK온)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3.8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미공시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진전1 · 미확인2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최고의 사업, 이상한 위치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배터리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SK온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7.0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C0392B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−0.93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C0392B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−13.3%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진전2 · 미확인1 · 미달1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흑자의 품질을 따져야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E&amp;S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SK이노베이션 E&amp;S CIC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11.9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0.68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5.7%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진전1 · 미확인2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방파제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그룹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SK이노베이션 연결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80.3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0.45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0.6%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진전2 · 미확인1 · 미달1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덩치는 컸고 남은 건 적었다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74320" y="5029200"/>
            <a:ext cx="932688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매출: 석유·화학·윤활유는 SK이노베이션 연결 기준(내부거래 제거 후), 배터리는 SK온 사업부문, E&amp;S는 SK이노베이션 사업부문 기준. 단위 조원.</a:t>
            </a:r>
          </a:p>
          <a:p>
            <a:pPr algn="l">
              <a:spcAft>
                <a:spcPts val="200"/>
              </a:spcAft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* 석유는 부문 영업이익이 따로 공시되지 않아 SK에너지 연결 수치, 화학은 SK지오센트릭 연결 수치(매출 11.5조 기준)를 표시.</a:t>
            </a:r>
          </a:p>
          <a:p>
            <a:pPr algn="l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목표 판정: 회사가 사업보고서·주주총회·컨퍼런스콜에서 밝힌 목표를 실제 숫자와 대조한 결과(세부는 부문별 페이지).</a:t>
            </a:r>
          </a:p>
        </p:txBody>
      </p:sp>
      <p:sp>
        <p:nvSpPr>
          <p:cNvPr id="18" name="Source"/>
          <p:cNvSpPr txBox="1"/>
          <p:nvPr/>
        </p:nvSpPr>
        <p:spPr>
          <a:xfrm>
            <a:off x="274320" y="6492240"/>
            <a:ext cx="87782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7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출처: SK이노베이션·SK에너지·SK온·SK지오센트릭 2025 사업보고서, 2026년 2분기 실적 보도(Investing.com, 더트래커)</a:t>
            </a:r>
          </a:p>
        </p:txBody>
      </p:sp>
      <p:sp>
        <p:nvSpPr>
          <p:cNvPr id="19" name="Page number"/>
          <p:cNvSpPr txBox="1"/>
          <p:nvPr/>
        </p:nvSpPr>
        <p:spPr>
          <a:xfrm>
            <a:off x="9326880" y="65196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2331720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1600" b="1" i="0" spc="-30">
                <a:solidFill>
                  <a:srgbClr val="A6A6A6"/>
                </a:solidFill>
                <a:latin typeface="나눔스퀘어 ExtraBold"/>
                <a:ea typeface="나눔스퀘어 ExtraBold"/>
                <a:cs typeface="나눔스퀘어 ExtraBold"/>
              </a:rPr>
              <a:t>SK이노베이션 계열  Cold Eye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3040" y="2724912"/>
            <a:ext cx="6976872" cy="71323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1463040" y="2724912"/>
            <a:ext cx="6976872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280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사업부문별 리뷰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9326880" y="65196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 txBox="1"/>
          <p:nvPr/>
        </p:nvSpPr>
        <p:spPr>
          <a:xfrm>
            <a:off x="274320" y="201168"/>
            <a:ext cx="89611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1800" b="0" i="0" spc="-30">
                <a:solidFill>
                  <a:srgbClr val="A6A6A6"/>
                </a:solidFill>
                <a:latin typeface="나눔스퀘어"/>
                <a:ea typeface="나눔스퀘어"/>
                <a:cs typeface="나눔스퀘어"/>
              </a:rPr>
              <a:t>사업부문별 리뷰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   |   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01  석유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274320" y="749808"/>
            <a:ext cx="935431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47.2조를 팔지만 이익은 유가가 정한다. 정유에서 볼 숫자는 매출이 아니라 마진이다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52628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검토 내용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1609343"/>
            <a:ext cx="452628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74920" y="1280160"/>
            <a:ext cx="455371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판정 및 CEO 과제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74920" y="1609343"/>
            <a:ext cx="455371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7432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47.2조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계열 석유사업 외부 매출('25)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356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81356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C0392B"/>
                </a:solidFill>
                <a:latin typeface="나눔스퀘어 ExtraBold"/>
                <a:ea typeface="나눔스퀘어 ExtraBold"/>
                <a:cs typeface="나눔스퀘어 ExtraBold"/>
              </a:rPr>
              <a:t>−0.17조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013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SK에너지 영업이익('25)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280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35280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C0392B"/>
                </a:solidFill>
                <a:latin typeface="나눔스퀘어 ExtraBold"/>
                <a:ea typeface="나눔스퀘어 ExtraBold"/>
                <a:cs typeface="나눔스퀘어 ExtraBold"/>
              </a:rPr>
              <a:t>0.41→−0.17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937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SK에너지 영업이익 '23→'25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6974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4320" y="269748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회사가 내건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990088"/>
            <a:ext cx="4526280" cy="2331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‘동북아 No.1 생산/마케팅 경쟁력’의 Energy Provider로 진화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SK에너지 2025 사업보고서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Operation Improvement로 수익구조 혁신, 생존력 강화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SK에너지 2025 사업보고서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SAF 연산 10만톤 생산체계, '25.1 국내 정유사 최초 유럽 수출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SK에너지 2025 사업보고서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트레이딩: 바이오·SAF 거래 확대, 배터리 원소재 트레이딩 진출 예정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SK이노베이션 2025 사업보고서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559552"/>
            <a:ext cx="4526280" cy="7772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11479" y="5559552"/>
            <a:ext cx="4251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buNone/>
            </a:pPr>
            <a:r>
              <a:rPr sz="1150" b="1" i="0" spc="-30">
                <a:solidFill>
                  <a:srgbClr val="002060"/>
                </a:solidFill>
                <a:latin typeface="나눔스퀘어 Bold"/>
                <a:ea typeface="나눔스퀘어 Bold"/>
                <a:cs typeface="나눔스퀘어 Bold"/>
              </a:rPr>
              <a:t>“ 재고이익은 실력이 아니라 유가가 준 선물이다. 선물은 돌려달라고 할 때가 온다 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17830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74920" y="178308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FFFFFF"/>
                </a:solidFill>
                <a:latin typeface="나눔스퀘어 Bold"/>
                <a:ea typeface="나눔스퀘어 Bold"/>
                <a:cs typeface="나눔스퀘어 Bold"/>
              </a:rPr>
              <a:t>목표 대비 판정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74920" y="2084831"/>
          <a:ext cx="455371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13232"/>
                <a:gridCol w="265176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동북아 No.1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미달·괴리</a:t>
                      </a:r>
                    </a:p>
                  </a:txBody>
                  <a:tcPr marL="45720" marR="45720" marT="18288" marB="18288" anchor="ctr">
                    <a:solidFill>
                      <a:srgbClr val="F26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영업이익 0.41→0.05→−0.17조, 3년 연속 하락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Operation Improvement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미확인</a:t>
                      </a:r>
                    </a:p>
                  </a:txBody>
                  <a:tcPr marL="45720" marR="45720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절감 성과를 수치로 공시하지 않음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SAF·저탄소 제품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진전</a:t>
                      </a:r>
                    </a:p>
                  </a:txBody>
                  <a:tcPr marL="45720" marR="45720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유럽 수출·인천공항 공급. 이익 기여는 미공시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원소재 트레이딩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미확인</a:t>
                      </a:r>
                    </a:p>
                  </a:txBody>
                  <a:tcPr marL="45720" marR="45720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‘진출 예정’ 단계, 실적 없음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074920" y="414223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74920" y="4142232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FFFFFF"/>
                </a:solidFill>
                <a:latin typeface="나눔스퀘어 Bold"/>
                <a:ea typeface="나눔스퀘어 Bold"/>
                <a:cs typeface="나눔스퀘어 Bold"/>
              </a:rPr>
              <a:t>내가 CEO라면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434840"/>
            <a:ext cx="4553712" cy="10515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1.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재고효과를 뺀 정제마진 이익을 분기마다 따로 공시</a:t>
            </a:r>
          </a:p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2.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Operation Improvement에 배럴당 원가 절감 목표·실적을 붙여 공개</a:t>
            </a:r>
          </a:p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3.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SAF 다년 오프테이크 계약으로 프리미엄 고정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5559552"/>
            <a:ext cx="4553712" cy="7772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212080" y="5559552"/>
            <a:ext cx="4279392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00" b="1" i="0" spc="-30">
                <a:solidFill>
                  <a:srgbClr val="BFCFE8"/>
                </a:solidFill>
                <a:latin typeface="나눔스퀘어 Bold"/>
                <a:ea typeface="나눔스퀘어 Bold"/>
                <a:cs typeface="나눔스퀘어 Bold"/>
              </a:rPr>
              <a:t>CEO 메시지</a:t>
            </a:r>
          </a:p>
          <a:p>
            <a:pPr algn="l">
              <a:buNone/>
            </a:pPr>
            <a:r>
              <a:rPr sz="115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유가가 준 이익은 유가가 가져간다. 우리가 통제하는 마진만 우리 실적이다</a:t>
            </a:r>
          </a:p>
        </p:txBody>
      </p:sp>
      <p:sp>
        <p:nvSpPr>
          <p:cNvPr id="30" name="Source"/>
          <p:cNvSpPr txBox="1"/>
          <p:nvPr/>
        </p:nvSpPr>
        <p:spPr>
          <a:xfrm>
            <a:off x="274320" y="6492240"/>
            <a:ext cx="87782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7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출처: SK에너지·SK이노베이션 2025 사업보고서, 2026년 2분기 실적 보도(Investing.com, 에너지데일리)</a:t>
            </a:r>
          </a:p>
        </p:txBody>
      </p:sp>
      <p:sp>
        <p:nvSpPr>
          <p:cNvPr id="31" name="Page number"/>
          <p:cNvSpPr txBox="1"/>
          <p:nvPr/>
        </p:nvSpPr>
        <p:spPr>
          <a:xfrm>
            <a:off x="9326880" y="65196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 txBox="1"/>
          <p:nvPr/>
        </p:nvSpPr>
        <p:spPr>
          <a:xfrm>
            <a:off x="274320" y="201168"/>
            <a:ext cx="89611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1800" b="0" i="0" spc="-30">
                <a:solidFill>
                  <a:srgbClr val="A6A6A6"/>
                </a:solidFill>
                <a:latin typeface="나눔스퀘어"/>
                <a:ea typeface="나눔스퀘어"/>
                <a:cs typeface="나눔스퀘어"/>
              </a:rPr>
              <a:t>사업부문별 리뷰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   |   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01  석유  ·  계열 매출 구조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274320" y="749808"/>
            <a:ext cx="935431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법인 매출을 더하면 134.6조, 내부거래 73.3조를 지우면 계열 밖으로 판 것은 61.3조. 그중 석유는 47.2조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52628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법인별 매출 (내부거래 포함, '25)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1609343"/>
            <a:ext cx="452628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74920" y="1280160"/>
            <a:ext cx="455371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SK이노베이션 연결 기준 (내부거래 제거 후)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74920" y="1609343"/>
            <a:ext cx="455371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737360"/>
          <a:ext cx="45262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74920" y="1737360"/>
          <a:ext cx="4553712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212080"/>
            <a:ext cx="9354312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00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같은 기름이 두 번 매출로 잡힌다. </a:t>
            </a:r>
            <a:r>
              <a:rPr sz="10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SK에너지가 정제한 제품을 SK온의 트레이딩 조직(옛 SK트레이딩인터내셔널)이 사서 다시 판다.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00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윤활유는 1년치가 연결에 있다. </a:t>
            </a:r>
            <a:r>
              <a:rPr sz="10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1~10월은 SK엔무브(SK이노베이션 자회사), 11~12월은 SK온 기유·윤활유 부문으로 잡혔다.</a:t>
            </a:r>
          </a:p>
          <a:p>
            <a:pPr algn="l" marL="146304" indent="-146304">
              <a:buFont typeface="Arial"/>
              <a:buChar char="•"/>
            </a:pPr>
            <a:r>
              <a:rPr sz="100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부문 영업이익은 에너지·화학 합산 1.12조만 공시된다. </a:t>
            </a:r>
            <a:r>
              <a:rPr sz="10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석유만의 이익은 따로 나오지 않는다.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274320" y="6492240"/>
            <a:ext cx="87782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7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출처: SK이노베이션 2025 사업보고서(사업의 내용, 주석 36 영업부문 정보: 에너지 및 화학 총매출 134.6조, 조정 −73.3조), SK온·SK에너지·SK지오센트릭 2025 사업보고서. 잔여·기타는 차감 계산</a:t>
            </a:r>
          </a:p>
        </p:txBody>
      </p:sp>
      <p:sp>
        <p:nvSpPr>
          <p:cNvPr id="12" name="Page number"/>
          <p:cNvSpPr txBox="1"/>
          <p:nvPr/>
        </p:nvSpPr>
        <p:spPr>
          <a:xfrm>
            <a:off x="9326880" y="65196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 txBox="1"/>
          <p:nvPr/>
        </p:nvSpPr>
        <p:spPr>
          <a:xfrm>
            <a:off x="274320" y="201168"/>
            <a:ext cx="89611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1800" b="0" i="0" spc="-30">
                <a:solidFill>
                  <a:srgbClr val="A6A6A6"/>
                </a:solidFill>
                <a:latin typeface="나눔스퀘어"/>
                <a:ea typeface="나눔스퀘어"/>
                <a:cs typeface="나눔스퀘어"/>
              </a:rPr>
              <a:t>사업부문별 리뷰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   |   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02  화학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274320" y="749808"/>
            <a:ext cx="935431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팔수록 줄고, 정리할수록 아프다. 범용 석유화학 공급과잉 한가운데서 지금 목표는 ‘덜 잃는 것’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52628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검토 내용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1609343"/>
            <a:ext cx="452628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74920" y="1280160"/>
            <a:ext cx="455371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판정 및 CEO 과제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74920" y="1609343"/>
            <a:ext cx="455371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7432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11.5조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SK지오센트릭 매출('25, 3년 연속↓)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356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81356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C0392B"/>
                </a:solidFill>
                <a:latin typeface="나눔스퀘어 ExtraBold"/>
                <a:ea typeface="나눔스퀘어 ExtraBold"/>
                <a:cs typeface="나눔스퀘어 ExtraBold"/>
              </a:rPr>
              <a:t>−0.15조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013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영업이익('25)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280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35280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C0392B"/>
                </a:solidFill>
                <a:latin typeface="나눔스퀘어 ExtraBold"/>
                <a:ea typeface="나눔스퀘어 ExtraBold"/>
                <a:cs typeface="나눔스퀘어 ExtraBold"/>
              </a:rPr>
              <a:t>−0.52조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937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중단영업손실(손상 0.43조 포함)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6974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4320" y="269748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회사가 내건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990088"/>
            <a:ext cx="4526280" cy="2331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최적 생산운영·원가 절감으로 원가 경쟁력 강화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SK지오센트릭 경영진단(SK이노베이션 2025 사업보고서)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제품 고부가화와 마케팅 확장으로 구조적 혁신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같은 자료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폐플라스틱·폐타이어 리사이클 신사업으로 성장 기반 구축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같은 자료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비핵심 자산 매각: 해외 기능성소재 법인('25 결정), 닝보SK합성고무 80%('26.1)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SK이노베이션 사업보고서 주석 41, 마이데일리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559552"/>
            <a:ext cx="4526280" cy="7772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11479" y="5559552"/>
            <a:ext cx="4251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buNone/>
            </a:pPr>
            <a:r>
              <a:rPr sz="1150" b="1" i="0" spc="-30">
                <a:solidFill>
                  <a:srgbClr val="002060"/>
                </a:solidFill>
                <a:latin typeface="나눔스퀘어 Bold"/>
                <a:ea typeface="나눔스퀘어 Bold"/>
                <a:cs typeface="나눔스퀘어 Bold"/>
              </a:rPr>
              <a:t>“ 구조조정의 첫 청구서는 이미 왔다. 문제는 다음 청구서가 몇 장 더 남았느냐다 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17830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74920" y="178308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FFFFFF"/>
                </a:solidFill>
                <a:latin typeface="나눔스퀘어 Bold"/>
                <a:ea typeface="나눔스퀘어 Bold"/>
                <a:cs typeface="나눔스퀘어 Bold"/>
              </a:rPr>
              <a:t>목표 대비 판정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74920" y="2084831"/>
          <a:ext cx="455371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13232"/>
                <a:gridCol w="26517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원가 경쟁력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미달·괴리</a:t>
                      </a:r>
                    </a:p>
                  </a:txBody>
                  <a:tcPr marL="45720" marR="45720" marT="18288" marB="18288" anchor="ctr">
                    <a:solidFill>
                      <a:srgbClr val="F26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기초유화 영업손실 1,306억원('25)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고부가화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미확인</a:t>
                      </a:r>
                    </a:p>
                  </a:txBody>
                  <a:tcPr marL="45720" marR="45720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신규 설비 '25 가동, 비중 목표·실적 미공시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리사이클 신사업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미확인</a:t>
                      </a:r>
                    </a:p>
                  </a:txBody>
                  <a:tcPr marL="45720" marR="45720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방향은 반복 제시, 매출 규모 미공시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비핵심 자산 정리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진전</a:t>
                      </a:r>
                    </a:p>
                  </a:txBody>
                  <a:tcPr marL="45720" marR="45720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매각 실행. 대가로 손상 4,266억원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울산 NCC 재편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미달·괴리</a:t>
                      </a:r>
                    </a:p>
                  </a:txBody>
                  <a:tcPr marL="45720" marR="45720" marT="18288" marB="18288" anchor="ctr">
                    <a:solidFill>
                      <a:srgbClr val="F26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이해관계 차이로 지연(보도)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074920" y="414223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74920" y="4142232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FFFFFF"/>
                </a:solidFill>
                <a:latin typeface="나눔스퀘어 Bold"/>
                <a:ea typeface="나눔스퀘어 Bold"/>
                <a:cs typeface="나눔스퀘어 Bold"/>
              </a:rPr>
              <a:t>내가 CEO라면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434840"/>
            <a:ext cx="4553712" cy="10515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1.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울산 NCC 재편을 연내 결론(감축 규모·통합 상대 확정)</a:t>
            </a:r>
          </a:p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2.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고부가 제품 매출 비중을 숫자 목표로 공개</a:t>
            </a:r>
          </a:p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3.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리사이클 투자는 상업 가동·손익분기 확인 후 다음 단계 집행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5559552"/>
            <a:ext cx="4553712" cy="7772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212080" y="5559552"/>
            <a:ext cx="4279392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00" b="1" i="0" spc="-30">
                <a:solidFill>
                  <a:srgbClr val="BFCFE8"/>
                </a:solidFill>
                <a:latin typeface="나눔스퀘어 Bold"/>
                <a:ea typeface="나눔스퀘어 Bold"/>
                <a:cs typeface="나눔스퀘어 Bold"/>
              </a:rPr>
              <a:t>CEO 메시지</a:t>
            </a:r>
          </a:p>
          <a:p>
            <a:pPr algn="l">
              <a:buNone/>
            </a:pPr>
            <a:r>
              <a:rPr sz="115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버티는 회사가 아니라, 줄여서 사는 회사가 돼야 한다</a:t>
            </a:r>
          </a:p>
        </p:txBody>
      </p:sp>
      <p:sp>
        <p:nvSpPr>
          <p:cNvPr id="30" name="Source"/>
          <p:cNvSpPr txBox="1"/>
          <p:nvPr/>
        </p:nvSpPr>
        <p:spPr>
          <a:xfrm>
            <a:off x="274320" y="6492240"/>
            <a:ext cx="87782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7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출처: SK지오센트릭·SK이노베이션 2025 사업보고서(주석 41 중단영업), 마이데일리(2026.10.22)</a:t>
            </a:r>
          </a:p>
        </p:txBody>
      </p:sp>
      <p:sp>
        <p:nvSpPr>
          <p:cNvPr id="31" name="Page number"/>
          <p:cNvSpPr txBox="1"/>
          <p:nvPr/>
        </p:nvSpPr>
        <p:spPr>
          <a:xfrm>
            <a:off x="9326880" y="65196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 txBox="1"/>
          <p:nvPr/>
        </p:nvSpPr>
        <p:spPr>
          <a:xfrm>
            <a:off x="274320" y="201168"/>
            <a:ext cx="89611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1800" b="0" i="0" spc="-30">
                <a:solidFill>
                  <a:srgbClr val="A6A6A6"/>
                </a:solidFill>
                <a:latin typeface="나눔스퀘어"/>
                <a:ea typeface="나눔스퀘어"/>
                <a:cs typeface="나눔스퀘어"/>
              </a:rPr>
              <a:t>사업부문별 리뷰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   |   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03  윤활유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274320" y="749808"/>
            <a:ext cx="935431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계열에서 가장 좋은 사업이 배터리 회사 안으로 이사 갔다. SK온 숫자는 배터리와 윤활유를 나눠 봐야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52628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검토 내용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1609343"/>
            <a:ext cx="452628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74920" y="1280160"/>
            <a:ext cx="455371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판정 및 CEO 과제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74920" y="1609343"/>
            <a:ext cx="455371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7432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3.84조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윤활유 매출('25, SK이노베이션 연결)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356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81356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0.69조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013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'26 2Q 영업이익(보도)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280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35280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'25.11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937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SK온에 흡수합병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6974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4320" y="269748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회사가 내건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990088"/>
            <a:ext cx="4526280" cy="2331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데이터센터 액침냉각 기업 GRC 지분투자('22 2,500만$, '25 393만$ 추가)</a:t>
            </a:r>
          </a:p>
          <a:p>
            <a:pPr algn="l" marL="146304">
              <a:spcAft>
                <a:spcPts val="9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SK이노베이션 2025 사업보고서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윤활기유로 EV 배터리·ESS·데이터센터 액침냉각 공동 개발·상업화</a:t>
            </a:r>
          </a:p>
          <a:p>
            <a:pPr algn="l" marL="146304">
              <a:spcAft>
                <a:spcPts val="9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SK이노베이션 2025 사업보고서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559552"/>
            <a:ext cx="4526280" cy="7772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11479" y="5559552"/>
            <a:ext cx="4251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buNone/>
            </a:pPr>
            <a:r>
              <a:rPr sz="1150" b="1" i="0" spc="-30">
                <a:solidFill>
                  <a:srgbClr val="002060"/>
                </a:solidFill>
                <a:latin typeface="나눔스퀘어 Bold"/>
                <a:ea typeface="나눔스퀘어 Bold"/>
                <a:cs typeface="나눔스퀘어 Bold"/>
              </a:rPr>
              <a:t>“ 좋은 사업을 나쁜 사업 옆에 두면 평균은 좋아 보인다. 평균은 아무것도 설명하지 않는다 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17830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74920" y="178308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FFFFFF"/>
                </a:solidFill>
                <a:latin typeface="나눔스퀘어 Bold"/>
                <a:ea typeface="나눔스퀘어 Bold"/>
                <a:cs typeface="나눔스퀘어 Bold"/>
              </a:rPr>
              <a:t>목표 대비 판정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74920" y="2084831"/>
          <a:ext cx="455371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13232"/>
                <a:gridCol w="26517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본업 수익성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진전</a:t>
                      </a:r>
                    </a:p>
                  </a:txBody>
                  <a:tcPr marL="45720" marR="45720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'26 2Q 0.69조. 중동 경쟁사 공급 차질이라는 외부 요인 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액침냉각 상업화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미확인</a:t>
                      </a:r>
                    </a:p>
                  </a:txBody>
                  <a:tcPr marL="45720" marR="45720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공동 개발 단계, 상업 수주·매출 미공시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SK온 편입 후 독립성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미확인</a:t>
                      </a:r>
                    </a:p>
                  </a:txBody>
                  <a:tcPr marL="45720" marR="45720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윤활유 현금 사용 원칙 미공개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074920" y="373075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74920" y="3730752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FFFFFF"/>
                </a:solidFill>
                <a:latin typeface="나눔스퀘어 Bold"/>
                <a:ea typeface="나눔스퀘어 Bold"/>
                <a:cs typeface="나눔스퀘어 Bold"/>
              </a:rPr>
              <a:t>내가 CEO라면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023360"/>
            <a:ext cx="4553712" cy="14630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1.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‘지정학 프리미엄’과 구조적 이익을 나눠 투자자에게 설명</a:t>
            </a:r>
          </a:p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2.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액침냉각 첫 상업 계약 확보(‘협업’을 ‘매출’로)</a:t>
            </a:r>
          </a:p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3.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SK온 내 부문별 자본배분 원칙 공개(배터리 지원 한도 설정)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5559552"/>
            <a:ext cx="4553712" cy="7772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212080" y="5559552"/>
            <a:ext cx="4279392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00" b="1" i="0" spc="-30">
                <a:solidFill>
                  <a:srgbClr val="BFCFE8"/>
                </a:solidFill>
                <a:latin typeface="나눔스퀘어 Bold"/>
                <a:ea typeface="나눔스퀘어 Bold"/>
                <a:cs typeface="나눔스퀘어 Bold"/>
              </a:rPr>
              <a:t>CEO 메시지</a:t>
            </a:r>
          </a:p>
          <a:p>
            <a:pPr algn="l">
              <a:buNone/>
            </a:pPr>
            <a:r>
              <a:rPr sz="115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좋은 사업의 현금은 공짜가 아니다. 쓸 곳과 한도를 먼저 정한다</a:t>
            </a:r>
          </a:p>
        </p:txBody>
      </p:sp>
      <p:sp>
        <p:nvSpPr>
          <p:cNvPr id="30" name="Source"/>
          <p:cNvSpPr txBox="1"/>
          <p:nvPr/>
        </p:nvSpPr>
        <p:spPr>
          <a:xfrm>
            <a:off x="274320" y="6492240"/>
            <a:ext cx="87782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7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출처: SK이노베이션·SK온 2025 사업보고서, 2026년 2분기 실적 보도(Investing.com), 디일렉·블로터(합병 배경)</a:t>
            </a:r>
          </a:p>
        </p:txBody>
      </p:sp>
      <p:sp>
        <p:nvSpPr>
          <p:cNvPr id="31" name="Page number"/>
          <p:cNvSpPr txBox="1"/>
          <p:nvPr/>
        </p:nvSpPr>
        <p:spPr>
          <a:xfrm>
            <a:off x="9326880" y="65196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 txBox="1"/>
          <p:nvPr/>
        </p:nvSpPr>
        <p:spPr>
          <a:xfrm>
            <a:off x="274320" y="201168"/>
            <a:ext cx="89611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1800" b="0" i="0" spc="-30">
                <a:solidFill>
                  <a:srgbClr val="A6A6A6"/>
                </a:solidFill>
                <a:latin typeface="나눔스퀘어"/>
                <a:ea typeface="나눔스퀘어"/>
                <a:cs typeface="나눔스퀘어"/>
              </a:rPr>
              <a:t>사업부문별 리뷰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   |   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04  배터리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274320" y="749808"/>
            <a:ext cx="935431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적자보다 무서운 건 손상차손. 영업손실 0.93조인데 순손실은 5.36조, 공장값을 장부에서 지웠다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52628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검토 내용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1609343"/>
            <a:ext cx="452628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74920" y="1280160"/>
            <a:ext cx="455371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판정 및 CEO 과제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74920" y="1609343"/>
            <a:ext cx="455371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7432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C0392B"/>
                </a:solidFill>
                <a:latin typeface="나눔스퀘어 ExtraBold"/>
                <a:ea typeface="나눔스퀘어 ExtraBold"/>
                <a:cs typeface="나눔스퀘어 ExtraBold"/>
              </a:rPr>
              <a:t>−0.93조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배터리 영업이익('25)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356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81356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C0392B"/>
                </a:solidFill>
                <a:latin typeface="나눔스퀘어 ExtraBold"/>
                <a:ea typeface="나눔스퀘어 ExtraBold"/>
                <a:cs typeface="나눔스퀘어 ExtraBold"/>
              </a:rPr>
              <a:t>4.78조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013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유형자산 손상차손('25)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280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35280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C0392B"/>
                </a:solidFill>
                <a:latin typeface="나눔스퀘어 ExtraBold"/>
                <a:ea typeface="나눔스퀘어 ExtraBold"/>
                <a:cs typeface="나눔스퀘어 ExtraBold"/>
              </a:rPr>
              <a:t>242%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937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SK온 부채비율('25말)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6974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4320" y="269748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회사가 내건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990088"/>
            <a:ext cx="4526280" cy="2331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ESS로 포트폴리오 다각화, 미국·신재생 연계 시장 중심 확장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SK이노베이션 2025 사업보고서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Cell 라인 효율화, ESS 전용 라인 확보로 ESS 매출 비중 확대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SK이노베이션 2025 사업보고서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'26 북미 중심 ESS 수주 20GWh 이상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4Q25 실적 컨퍼런스콜(이투데이·데일리안)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전기차 배터리는 수익성 위주로 선별 수주·생산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'26.3 정기주주총회(글로벌이코노믹)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559552"/>
            <a:ext cx="4526280" cy="7772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11479" y="5559552"/>
            <a:ext cx="4251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buNone/>
            </a:pPr>
            <a:r>
              <a:rPr sz="1150" b="1" i="0" spc="-30">
                <a:solidFill>
                  <a:srgbClr val="002060"/>
                </a:solidFill>
                <a:latin typeface="나눔스퀘어 Bold"/>
                <a:ea typeface="나눔스퀘어 Bold"/>
                <a:cs typeface="나눔스퀘어 Bold"/>
              </a:rPr>
              <a:t>“ 흑자 전환은 뉴스지만, 보상금과 세액공제를 뺀 흑자만이 실적이다 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17830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74920" y="178308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FFFFFF"/>
                </a:solidFill>
                <a:latin typeface="나눔스퀘어 Bold"/>
                <a:ea typeface="나눔스퀘어 Bold"/>
                <a:cs typeface="나눔스퀘어 Bold"/>
              </a:rPr>
              <a:t>목표 대비 판정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74920" y="2084831"/>
          <a:ext cx="455371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13232"/>
                <a:gridCol w="265176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ESS 수주 20GWh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미확인</a:t>
                      </a:r>
                    </a:p>
                  </a:txBody>
                  <a:tcPr marL="45720" marR="45720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공개 계약 약 10GWh(네오볼타 9, 플랫아이언 1). 회사는 달성 ‘긍정적’('26.10)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ESS 전용 라인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진전</a:t>
                      </a:r>
                    </a:p>
                  </a:txBody>
                  <a:tcPr marL="45720" marR="45720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포드 합작 종료로 확보한 테네시 공장 ESS 전환 방향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수익성 위주 운영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미달·괴리</a:t>
                      </a:r>
                    </a:p>
                  </a:txBody>
                  <a:tcPr marL="45720" marR="45720" marT="18288" marB="18288" anchor="ctr">
                    <a:solidFill>
                      <a:srgbClr val="F26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'26 2Q 흑자 0.82조에 고객 보상금·IRA 세액공제 포함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설비 효율화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진전</a:t>
                      </a:r>
                    </a:p>
                  </a:txBody>
                  <a:tcPr marL="45720" marR="45720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CAPEX 9.8→3.6조('23→'25), 대가로 손상 4.78조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074920" y="414223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74920" y="4142232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FFFFFF"/>
                </a:solidFill>
                <a:latin typeface="나눔스퀘어 Bold"/>
                <a:ea typeface="나눔스퀘어 Bold"/>
                <a:cs typeface="나눔스퀘어 Bold"/>
              </a:rPr>
              <a:t>내가 CEO라면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434840"/>
            <a:ext cx="4553712" cy="10515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1.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보상금·AMPC를 뺀 영업이익 흑자 시점을 공개 목표로 설정</a:t>
            </a:r>
          </a:p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2.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테네시 ESS 전환 일정·목표 가동률을 분기 보고</a:t>
            </a:r>
          </a:p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3.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헝가리 등 유휴 해외 설비 연내 결정(전환·매각·축소)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5559552"/>
            <a:ext cx="4553712" cy="7772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212080" y="5559552"/>
            <a:ext cx="4279392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00" b="1" i="0" spc="-30">
                <a:solidFill>
                  <a:srgbClr val="BFCFE8"/>
                </a:solidFill>
                <a:latin typeface="나눔스퀘어 Bold"/>
                <a:ea typeface="나눔스퀘어 Bold"/>
                <a:cs typeface="나눔스퀘어 Bold"/>
              </a:rPr>
              <a:t>CEO 메시지</a:t>
            </a:r>
          </a:p>
          <a:p>
            <a:pPr algn="l">
              <a:buNone/>
            </a:pPr>
            <a:r>
              <a:rPr sz="115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보조금 없이 남는 1원이 진짜 흑자다</a:t>
            </a:r>
          </a:p>
        </p:txBody>
      </p:sp>
      <p:sp>
        <p:nvSpPr>
          <p:cNvPr id="30" name="Source"/>
          <p:cNvSpPr txBox="1"/>
          <p:nvPr/>
        </p:nvSpPr>
        <p:spPr>
          <a:xfrm>
            <a:off x="274320" y="6492240"/>
            <a:ext cx="87782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7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출처: SK온 2025 사업보고서(유형자산 주석, 사업부문별 재무정보), 머니투데이·이투데이(합작 종결), 한국금융신문(ESS 수주)</a:t>
            </a:r>
          </a:p>
        </p:txBody>
      </p:sp>
      <p:sp>
        <p:nvSpPr>
          <p:cNvPr id="31" name="Page number"/>
          <p:cNvSpPr txBox="1"/>
          <p:nvPr/>
        </p:nvSpPr>
        <p:spPr>
          <a:xfrm>
            <a:off x="9326880" y="65196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 txBox="1"/>
          <p:nvPr/>
        </p:nvSpPr>
        <p:spPr>
          <a:xfrm>
            <a:off x="274320" y="201168"/>
            <a:ext cx="89611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1800" b="0" i="0" spc="-30">
                <a:solidFill>
                  <a:srgbClr val="A6A6A6"/>
                </a:solidFill>
                <a:latin typeface="나눔스퀘어"/>
                <a:ea typeface="나눔스퀘어"/>
                <a:cs typeface="나눔스퀘어"/>
              </a:rPr>
              <a:t>사업부문별 리뷰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   |   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05  E&amp;S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274320" y="749808"/>
            <a:ext cx="935431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합병의 진짜 이유는 손익계산서에 있다. E&amp;S 이익이 배터리·소재 적자의 58%를 메웠다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52628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검토 내용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1609343"/>
            <a:ext cx="452628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74920" y="1280160"/>
            <a:ext cx="455371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판정 및 CEO 과제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74920" y="1609343"/>
            <a:ext cx="455371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7432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11.86조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E&amp;S 매출('25)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356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81356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0.68조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013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영업이익(이익률 5.7%)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280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35280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58%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937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배터리·소재 적자 보전율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6974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4320" y="269748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회사가 내건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990088"/>
            <a:ext cx="4526280" cy="2331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Electrification 시대의 Total Energy Company, 발전자산 확보로 전기사업자 전환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SK이노베이션 2025 사업보고서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전력 다소비 산업 통합 서비스, AI 데이터센터 등 대형 수요처 전력 솔루션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사업보고서, '26.3 주주총회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Global LNG 밸류체인 확장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SK이노베이션 2025 사업보고서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2026년을 ‘전기사업자 포지셔닝 원년’으로</a:t>
            </a:r>
          </a:p>
          <a:p>
            <a:pPr algn="l" marL="146304">
              <a:spcAft>
                <a:spcPts val="6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'26.3 주주총회(헤럴드경제)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559552"/>
            <a:ext cx="4526280" cy="7772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11479" y="5559552"/>
            <a:ext cx="4251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buNone/>
            </a:pPr>
            <a:r>
              <a:rPr sz="1150" b="1" i="0" spc="-30">
                <a:solidFill>
                  <a:srgbClr val="002060"/>
                </a:solidFill>
                <a:latin typeface="나눔스퀘어 Bold"/>
                <a:ea typeface="나눔스퀘어 Bold"/>
                <a:cs typeface="나눔스퀘어 Bold"/>
              </a:rPr>
              <a:t>“ E&amp;S는 성장 스토리가 아니라 방파제다. 파도가 계속 높으면 결국 넘친다 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17830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74920" y="178308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FFFFFF"/>
                </a:solidFill>
                <a:latin typeface="나눔스퀘어 Bold"/>
                <a:ea typeface="나눔스퀘어 Bold"/>
                <a:cs typeface="나눔스퀘어 Bold"/>
              </a:rPr>
              <a:t>목표 대비 판정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74920" y="2084831"/>
          <a:ext cx="455371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13232"/>
                <a:gridCol w="26517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안정적 이익 창출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진전</a:t>
                      </a:r>
                    </a:p>
                  </a:txBody>
                  <a:tcPr marL="45720" marR="45720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영업이익 0.68조, 그룹의 방파제 역할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전기사업자 전환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미확인</a:t>
                      </a:r>
                    </a:p>
                  </a:txBody>
                  <a:tcPr marL="45720" marR="45720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발전 용량(GW)·고객 수 등 측정 지표 미공시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LNG 밸류체인 확장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미확인</a:t>
                      </a:r>
                    </a:p>
                  </a:txBody>
                  <a:tcPr marL="45720" marR="45720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바로사 하반기 가동 기대. 보령LNG터미널 등 자산 정리 병행(보도)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074920" y="373075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74920" y="3730752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FFFFFF"/>
                </a:solidFill>
                <a:latin typeface="나눔스퀘어 Bold"/>
                <a:ea typeface="나눔스퀘어 Bold"/>
                <a:cs typeface="나눔스퀘어 Bold"/>
              </a:rPr>
              <a:t>내가 CEO라면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023360"/>
            <a:ext cx="4553712" cy="14630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1.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전기사업자 KPI(발전 용량·판매량·산업 고객 수) 분기 공시</a:t>
            </a:r>
          </a:p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2.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바로사 상업 가동과 장기 판매계약 확정</a:t>
            </a:r>
          </a:p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3.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AI 데이터센터 전력 솔루션 첫 대형 계약 확보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5559552"/>
            <a:ext cx="4553712" cy="7772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212080" y="5559552"/>
            <a:ext cx="4279392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00" b="1" i="0" spc="-30">
                <a:solidFill>
                  <a:srgbClr val="BFCFE8"/>
                </a:solidFill>
                <a:latin typeface="나눔스퀘어 Bold"/>
                <a:ea typeface="나눔스퀘어 Bold"/>
                <a:cs typeface="나눔스퀘어 Bold"/>
              </a:rPr>
              <a:t>CEO 메시지</a:t>
            </a:r>
          </a:p>
          <a:p>
            <a:pPr algn="l">
              <a:buNone/>
            </a:pPr>
            <a:r>
              <a:rPr sz="115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방파제를 성장엔진이라 부르려면, 숫자로 된 이정표가 필요하다</a:t>
            </a:r>
          </a:p>
        </p:txBody>
      </p:sp>
      <p:sp>
        <p:nvSpPr>
          <p:cNvPr id="30" name="Source"/>
          <p:cNvSpPr txBox="1"/>
          <p:nvPr/>
        </p:nvSpPr>
        <p:spPr>
          <a:xfrm>
            <a:off x="274320" y="6492240"/>
            <a:ext cx="87782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7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출처: SK이노베이션 2025 사업보고서(사업부문별 재무정보), 헤럴드경제(주총), 데일리안(컨퍼런스콜), 뉴스웨이(자산 매각)</a:t>
            </a:r>
          </a:p>
        </p:txBody>
      </p:sp>
      <p:sp>
        <p:nvSpPr>
          <p:cNvPr id="31" name="Page number"/>
          <p:cNvSpPr txBox="1"/>
          <p:nvPr/>
        </p:nvSpPr>
        <p:spPr>
          <a:xfrm>
            <a:off x="9326880" y="65196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2331720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1600" b="1" i="0" spc="-30">
                <a:solidFill>
                  <a:srgbClr val="A6A6A6"/>
                </a:solidFill>
                <a:latin typeface="나눔스퀘어 ExtraBold"/>
                <a:ea typeface="나눔스퀘어 ExtraBold"/>
                <a:cs typeface="나눔스퀘어 ExtraBold"/>
              </a:rPr>
              <a:t>SK이노베이션 계열  Cold Eye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3040" y="2724912"/>
            <a:ext cx="6976872" cy="71323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1463040" y="2724912"/>
            <a:ext cx="6976872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280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그룹 재무 및 시사점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9326880" y="65196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 txBox="1"/>
          <p:nvPr/>
        </p:nvSpPr>
        <p:spPr>
          <a:xfrm>
            <a:off x="274320" y="201168"/>
            <a:ext cx="89611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1800" b="0" i="0" spc="-30">
                <a:solidFill>
                  <a:srgbClr val="A6A6A6"/>
                </a:solidFill>
                <a:latin typeface="나눔스퀘어"/>
                <a:ea typeface="나눔스퀘어"/>
                <a:cs typeface="나눔스퀘어"/>
              </a:rPr>
              <a:t>그룹 재무 및 시사점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   |   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06  그룹 재무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274320" y="749808"/>
            <a:ext cx="935431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자본의 40%는 남의 몫. 리밸런싱은 진행 중이지만 부채비율은 3년째 올랐다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52628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검토 내용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1609343"/>
            <a:ext cx="452628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74920" y="1280160"/>
            <a:ext cx="455371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판정 및 CEO 과제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74920" y="1609343"/>
            <a:ext cx="455371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7432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C0392B"/>
                </a:solidFill>
                <a:latin typeface="나눔스퀘어 ExtraBold"/>
                <a:ea typeface="나눔스퀘어 ExtraBold"/>
                <a:cs typeface="나눔스퀘어 ExtraBold"/>
              </a:rPr>
              <a:t>190%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연결 부채비율('25말)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356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81356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22.5조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013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순차입금(회사 발표, '25말)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2800" y="1783080"/>
            <a:ext cx="1447800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352800" y="1810512"/>
            <a:ext cx="14478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700" b="1" i="0" spc="-30">
                <a:solidFill>
                  <a:srgbClr val="C0392B"/>
                </a:solidFill>
                <a:latin typeface="나눔스퀘어 ExtraBold"/>
                <a:ea typeface="나눔스퀘어 ExtraBold"/>
                <a:cs typeface="나눔스퀘어 ExtraBold"/>
              </a:rPr>
              <a:t>−3.08조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9376" y="2176272"/>
            <a:ext cx="1374647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buNone/>
            </a:pPr>
            <a:r>
              <a:rPr sz="8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FCF('25)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6974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4320" y="269748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회사가 내건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990088"/>
            <a:ext cx="4526280" cy="2331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포트폴리오 리밸런싱을 빠른 시일 내 완수, 운영개선 고도화</a:t>
            </a:r>
          </a:p>
          <a:p>
            <a:pPr algn="l" marL="146304">
              <a:spcAft>
                <a:spcPts val="9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'26.1.2 신년사(머니투데이)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재무구조 안정화: 핵심 사업 집중, 순차입금 감축</a:t>
            </a:r>
          </a:p>
          <a:p>
            <a:pPr algn="l" marL="146304">
              <a:spcAft>
                <a:spcPts val="9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'26.3.24 정기주주총회(글로벌이코노믹)</a:t>
            </a:r>
          </a:p>
          <a:p>
            <a:pPr algn="l" marL="146304" indent="-146304">
              <a:spcAft>
                <a:spcPts val="100"/>
              </a:spcAft>
              <a:buFont typeface="Arial"/>
              <a:buChar char="•"/>
            </a:pPr>
            <a:r>
              <a:rPr sz="11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2026년을 ‘체질 정상화’의 해로, 무배당·비핵심 자산 매각 지속</a:t>
            </a:r>
          </a:p>
          <a:p>
            <a:pPr algn="l" marL="146304">
              <a:spcAft>
                <a:spcPts val="900"/>
              </a:spcAft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공개 컨퍼런스콜 보도(파이낸스스코프, 딜사이트)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559552"/>
            <a:ext cx="4526280" cy="7772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11479" y="5559552"/>
            <a:ext cx="4251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buNone/>
            </a:pPr>
            <a:r>
              <a:rPr sz="1150" b="1" i="0" spc="-30">
                <a:solidFill>
                  <a:srgbClr val="002060"/>
                </a:solidFill>
                <a:latin typeface="나눔스퀘어 Bold"/>
                <a:ea typeface="나눔스퀘어 Bold"/>
                <a:cs typeface="나눔스퀘어 Bold"/>
              </a:rPr>
              <a:t>“ 2026년 이익 반등이 재무를 고치는 건 맞다. 다만 그 반등의 상당 부분은 중동 리스크가 깔아 준 것이다 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17830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74920" y="178308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FFFFFF"/>
                </a:solidFill>
                <a:latin typeface="나눔스퀘어 Bold"/>
                <a:ea typeface="나눔스퀘어 Bold"/>
                <a:cs typeface="나눔스퀘어 Bold"/>
              </a:rPr>
              <a:t>목표 대비 판정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74920" y="2084831"/>
          <a:ext cx="455371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13232"/>
                <a:gridCol w="265176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순차입금 감축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진전</a:t>
                      </a:r>
                    </a:p>
                  </a:txBody>
                  <a:tcPr marL="45720" marR="45720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28.8→22.5조('25.9말→12말, 회사 발표 보도)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신용도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진전</a:t>
                      </a:r>
                    </a:p>
                  </a:txBody>
                  <a:tcPr marL="45720" marR="45720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무디스 Ba1 전망 ‘안정적’ 상향('26). '27~'28 레버리지 재상승 전망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리밸런싱 완수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미확인</a:t>
                      </a:r>
                    </a:p>
                  </a:txBody>
                  <a:tcPr marL="45720" marR="45720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매각은 진행, 울산 석유화학 재편 지연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부채비율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 spc="-3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미달·괴리</a:t>
                      </a:r>
                    </a:p>
                  </a:txBody>
                  <a:tcPr marL="45720" marR="45720" marT="18288" marB="18288" anchor="ctr">
                    <a:solidFill>
                      <a:srgbClr val="F26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pc="-30">
                          <a:solidFill>
                            <a:srgbClr val="1A1A1A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169→179→190%('23→'25)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074920" y="414223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74920" y="4142232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950" b="1" i="0" spc="-30">
                <a:solidFill>
                  <a:srgbClr val="FFFFFF"/>
                </a:solidFill>
                <a:latin typeface="나눔스퀘어 Bold"/>
                <a:ea typeface="나눔스퀘어 Bold"/>
                <a:cs typeface="나눔스퀘어 Bold"/>
              </a:rPr>
              <a:t>내가 CEO라면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434840"/>
            <a:ext cx="4553712" cy="10515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1.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순차입금 목표를 ‘○년까지 ○조’로 숫자·기한 공표</a:t>
            </a:r>
          </a:p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2.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부문별 투하자본이익률(ROIC) 공시</a:t>
            </a:r>
          </a:p>
          <a:p>
            <a:pPr algn="l">
              <a:spcAft>
                <a:spcPts val="500"/>
              </a:spcAft>
              <a:buNone/>
            </a:pPr>
            <a:r>
              <a:rPr sz="1050" b="1" i="0" spc="-30">
                <a:solidFill>
                  <a:srgbClr val="002060"/>
                </a:solidFill>
                <a:latin typeface="나눔스퀘어 ExtraBold"/>
                <a:ea typeface="나눔스퀘어 ExtraBold"/>
                <a:cs typeface="나눔스퀘어 ExtraBold"/>
              </a:rPr>
              <a:t>3. </a:t>
            </a:r>
            <a:r>
              <a:rPr sz="105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비지배지분(자본의 40%) 구조 단순화 로드맵 제시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5559552"/>
            <a:ext cx="4553712" cy="7772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212080" y="5559552"/>
            <a:ext cx="4279392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00" b="1" i="0" spc="-30">
                <a:solidFill>
                  <a:srgbClr val="BFCFE8"/>
                </a:solidFill>
                <a:latin typeface="나눔스퀘어 Bold"/>
                <a:ea typeface="나눔스퀘어 Bold"/>
                <a:cs typeface="나눔스퀘어 Bold"/>
              </a:rPr>
              <a:t>CEO 메시지</a:t>
            </a:r>
          </a:p>
          <a:p>
            <a:pPr algn="l">
              <a:buNone/>
            </a:pPr>
            <a:r>
              <a:rPr sz="115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리밸런싱의 끝은 매각 공시가 아니라, 주주 몫 이익이 늘어난 손익계산서다</a:t>
            </a:r>
          </a:p>
        </p:txBody>
      </p:sp>
      <p:sp>
        <p:nvSpPr>
          <p:cNvPr id="30" name="Source"/>
          <p:cNvSpPr txBox="1"/>
          <p:nvPr/>
        </p:nvSpPr>
        <p:spPr>
          <a:xfrm>
            <a:off x="274320" y="6492240"/>
            <a:ext cx="87782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7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출처: SK이노베이션 2025 사업보고서(요약연결재무정보·현금흐름표), 이투데이(무디스), 딜사이트. 필자 계산 순차입금(15.9조)과의 차이는 산정 범위 차이로 추정</a:t>
            </a:r>
          </a:p>
        </p:txBody>
      </p:sp>
      <p:sp>
        <p:nvSpPr>
          <p:cNvPr id="31" name="Page number"/>
          <p:cNvSpPr txBox="1"/>
          <p:nvPr/>
        </p:nvSpPr>
        <p:spPr>
          <a:xfrm>
            <a:off x="9326880" y="65196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 txBox="1"/>
          <p:nvPr/>
        </p:nvSpPr>
        <p:spPr>
          <a:xfrm>
            <a:off x="274320" y="201168"/>
            <a:ext cx="89611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1800" b="0" i="0" spc="-30">
                <a:solidFill>
                  <a:srgbClr val="A6A6A6"/>
                </a:solidFill>
                <a:latin typeface="나눔스퀘어"/>
                <a:ea typeface="나눔스퀘어"/>
                <a:cs typeface="나눔스퀘어"/>
              </a:rPr>
              <a:t>그룹 재무 및 시사점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   |   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다음 분기 체크포인트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274320" y="749808"/>
            <a:ext cx="935431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숫자로 약속하지 않은 목표는 검증할 수 없다. 투자자가 다음 분기에 확인할 다섯 가지와 CEO 메시지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52628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투자자 체크포인트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1609343"/>
            <a:ext cx="452628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74920" y="1280160"/>
            <a:ext cx="455371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buNone/>
            </a:pPr>
            <a:r>
              <a:rPr sz="1300" b="1" i="0" spc="-30">
                <a:solidFill>
                  <a:srgbClr val="1A1A1A"/>
                </a:solidFill>
                <a:latin typeface="나눔스퀘어 ExtraBold"/>
                <a:ea typeface="나눔스퀘어 ExtraBold"/>
                <a:cs typeface="나눔스퀘어 ExtraBold"/>
              </a:rPr>
              <a:t>부문별 CEO 메시지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74920" y="1609343"/>
            <a:ext cx="455371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810512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74320" y="18105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4023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재고효과를 뺀 정유 이익</a:t>
            </a:r>
          </a:p>
          <a:p>
            <a:pPr algn="l">
              <a:buNone/>
            </a:pPr>
            <a:r>
              <a:rPr sz="9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유가가 꺾이는 분기에 진짜 마진이 드러난다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79191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4320" y="267919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023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보상금·세액공제를 뺀 배터리 이익</a:t>
            </a:r>
          </a:p>
          <a:p>
            <a:pPr algn="l">
              <a:buNone/>
            </a:pPr>
            <a:r>
              <a:rPr sz="9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'26 2Q 흑자가 반복 가능한 이익인지 가르는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47872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74320" y="35478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0440"/>
            <a:ext cx="4023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SK온 안에서 윤활유와 배터리 분리</a:t>
            </a:r>
          </a:p>
          <a:p>
            <a:pPr algn="l">
              <a:buNone/>
            </a:pPr>
            <a:r>
              <a:rPr sz="9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합쳐 보면 배터리 회복이 실제보다 좋아 보인다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16552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4320" y="44165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89120"/>
            <a:ext cx="4023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순차입금/EBITDA</a:t>
            </a:r>
          </a:p>
          <a:p>
            <a:pPr algn="l">
              <a:buNone/>
            </a:pPr>
            <a:r>
              <a:rPr sz="9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무디스의 '26년 2.7배 전망을 실제 숫자가 따라오는지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85231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4320" y="528523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400" b="1" i="0" spc="-30">
                <a:solidFill>
                  <a:srgbClr val="FFFFFF"/>
                </a:solidFill>
                <a:latin typeface="나눔스퀘어 ExtraBold"/>
                <a:ea typeface="나눔스퀘어 ExtraBold"/>
                <a:cs typeface="나눔스퀘어 Extra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57799"/>
            <a:ext cx="4023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추가 손상과 매각 일정</a:t>
            </a:r>
          </a:p>
          <a:p>
            <a:pPr algn="l">
              <a:buNone/>
            </a:pPr>
            <a:r>
              <a:rPr sz="9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SK지오센트릭 해외 법인, SK온 해외 공장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74920" y="1810512"/>
          <a:ext cx="4553712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368503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 spc="-30">
                          <a:solidFill>
                            <a:srgbClr val="FFFFFF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석유</a:t>
                      </a:r>
                    </a:p>
                  </a:txBody>
                  <a:tcPr anchor="ctr" marL="73152" marR="7315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유가가 준 이익은 유가가 가져간다. 우리가 통제하는 마진만 우리 실적이다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 spc="-30">
                          <a:solidFill>
                            <a:srgbClr val="FFFFFF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화학</a:t>
                      </a:r>
                    </a:p>
                  </a:txBody>
                  <a:tcPr anchor="ctr" marL="73152" marR="7315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버티는 회사가 아니라, 줄여서 사는 회사가 돼야 한다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 spc="-30">
                          <a:solidFill>
                            <a:srgbClr val="FFFFFF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윤활유</a:t>
                      </a:r>
                    </a:p>
                  </a:txBody>
                  <a:tcPr anchor="ctr" marL="73152" marR="7315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좋은 사업의 현금은 공짜가 아니다. 쓸 곳과 한도를 먼저 정한다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 spc="-30">
                          <a:solidFill>
                            <a:srgbClr val="FFFFFF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배터리</a:t>
                      </a:r>
                    </a:p>
                  </a:txBody>
                  <a:tcPr anchor="ctr" marL="73152" marR="7315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보조금 없이 남는 1원이 진짜 흑자다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 spc="-30">
                          <a:solidFill>
                            <a:srgbClr val="FFFFFF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E&amp;S</a:t>
                      </a:r>
                    </a:p>
                  </a:txBody>
                  <a:tcPr anchor="ctr" marL="73152" marR="7315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방파제를 성장엔진이라 부르려면, 숫자로 된 이정표가 필요하다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 spc="-30">
                          <a:solidFill>
                            <a:srgbClr val="FFFFFF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그룹</a:t>
                      </a:r>
                    </a:p>
                  </a:txBody>
                  <a:tcPr anchor="ctr" marL="73152" marR="7315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-30">
                          <a:solidFill>
                            <a:srgbClr val="1A1A1A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리밸런싱의 끝은 매각 공시가 아니라, 주주 몫 이익이 늘어난 손익계산서다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ource"/>
          <p:cNvSpPr txBox="1"/>
          <p:nvPr/>
        </p:nvSpPr>
        <p:spPr>
          <a:xfrm>
            <a:off x="274320" y="6492240"/>
            <a:ext cx="87782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75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공통 축: 회사가 목표로만 말하고 숫자로 공시하지 않는 항목(정제마진, 보조금 제외 이익, 발전 용량, 순차입금 목표, 부문별 ROIC)을 측정 가능한 약속으로 바꿀 것</a:t>
            </a:r>
          </a:p>
        </p:txBody>
      </p:sp>
      <p:sp>
        <p:nvSpPr>
          <p:cNvPr id="25" name="Page number"/>
          <p:cNvSpPr txBox="1"/>
          <p:nvPr/>
        </p:nvSpPr>
        <p:spPr>
          <a:xfrm>
            <a:off x="9326880" y="65196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 txBox="1"/>
          <p:nvPr/>
        </p:nvSpPr>
        <p:spPr>
          <a:xfrm>
            <a:off x="274320" y="201168"/>
            <a:ext cx="89611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buNone/>
            </a:pPr>
            <a:r>
              <a:rPr sz="1800" b="0" i="0" spc="-30">
                <a:solidFill>
                  <a:srgbClr val="A6A6A6"/>
                </a:solidFill>
                <a:latin typeface="나눔스퀘어"/>
                <a:ea typeface="나눔스퀘어"/>
                <a:cs typeface="나눔스퀘어"/>
              </a:rPr>
              <a:t>참고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   |   </a:t>
            </a:r>
            <a:r>
              <a:rPr sz="18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출처 및 유의사항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9326880" cy="4023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0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SK이노베이션·SK에너지·SK온·SK지오센트릭 2025 사업보고서(DART, 2026.3.16 제출)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0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Investing.com · SK이노베이션 2026년 2분기 실적 컨퍼런스콜 / 에너지데일리 · 2분기 실적 / 더트래커 · 2026 상반기 정유·석화 리포트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0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머니투데이 · 장용호·추형욱 신년사(2026.1.2) / 글로벌이코노믹 · 제19기 정기주주총회(2026.3.24) / 헤럴드경제 · ‘전기화 포지셔닝 원년’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0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이투데이·데일리안 · SK온 2026년 ESS 20GWh 수주 목표 / 머니투데이 · ESS 목표 달성 ‘긍정적’(2026.10) / 한국금융신문 · 미국 ESS 1.5조 수주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0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머니투데이·이투데이·문화일보 · 포드 합작 종결, SK온 테네시 출범(2026.5)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0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이투데이 · 무디스 전망 ‘안정적’ 상향 / 블로터 · 신용등급 괴리 / 한국신용평가(2025.11)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0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파이낸스스코프 · 공개 컨퍼런스콜(체질 정상화·무배당) / 딜사이트 · 순차입금 감축 / 뉴스웨이 · 자산 매각 / 마이데일리 · 울산 석화 재편 지연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000" b="0" i="0" spc="-30">
                <a:solidFill>
                  <a:srgbClr val="1A1A1A"/>
                </a:solidFill>
                <a:latin typeface="나눔스퀘어"/>
                <a:ea typeface="나눔스퀘어"/>
                <a:cs typeface="나눔스퀘어"/>
              </a:rPr>
              <a:t>디일렉 · SK온 상장 의무 해소와 2차 리밸런싱 / 블로터 · SK온, SK엔무브 흡수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74920"/>
            <a:ext cx="9354312" cy="1143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11480" y="5120640"/>
            <a:ext cx="909828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00" b="1" i="0" spc="-30">
                <a:solidFill>
                  <a:srgbClr val="1A1A1A"/>
                </a:solidFill>
                <a:latin typeface="나눔스퀘어 Bold"/>
                <a:ea typeface="나눔스퀘어 Bold"/>
                <a:cs typeface="나눔스퀘어 Bold"/>
              </a:rPr>
              <a:t>유의사항</a:t>
            </a:r>
          </a:p>
          <a:p>
            <a:pPr algn="l">
              <a:buNone/>
            </a:pPr>
            <a:r>
              <a:rPr sz="9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본 자료는 공시와 출처가 명시된 공개 자료를 바탕으로 한 분석이며 특정 증권의 매수·매도 권유가 아닙니다. 2026년 수치는 회사 발표를 인용한 보도와 증권사 자료로 사업보고서로 확정되지 않았습니다. 목표 판정과 CEO 과제는 작성자의 견해입니다.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9326880" y="65196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buNone/>
            </a:pPr>
            <a:r>
              <a:rPr sz="800" b="0" i="0" spc="-30">
                <a:solidFill>
                  <a:srgbClr val="7F7F7F"/>
                </a:solidFill>
                <a:latin typeface="나눔스퀘어"/>
                <a:ea typeface="나눔스퀘어"/>
                <a:cs typeface="나눔스퀘어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c1357aa-0960-4b6d-b918-e2668fbe3cee}" enabled="1" method="Privileged" siteId="{a291953b-a95f-4c1e-8127-00ffdb5b7f6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1575</TotalTime>
  <Words>6006</Words>
  <Application>Microsoft Office PowerPoint</Application>
  <PresentationFormat>A4 용지(210x297mm)</PresentationFormat>
  <Paragraphs>781</Paragraphs>
  <Slides>19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3" baseType="lpstr">
      <vt:lpstr>나눔스퀘어</vt:lpstr>
      <vt:lpstr>나눔스퀘어 Bold</vt:lpstr>
      <vt:lpstr>나눔스퀘어 ExtraBold</vt:lpstr>
      <vt:lpstr>나눔스퀘어_ac</vt:lpstr>
      <vt:lpstr>나눔스퀘어_ac ExtraBold</vt:lpstr>
      <vt:lpstr>Aptos</vt:lpstr>
      <vt:lpstr>Aptos Display</vt:lpstr>
      <vt:lpstr>Arial</vt:lpstr>
      <vt:lpstr>Calibri</vt:lpstr>
      <vt:lpstr>Tahoma</vt:lpstr>
      <vt:lpstr>Trebuchet MS</vt:lpstr>
      <vt:lpstr>Wingdings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박병욱(BYUNGWOOK PARK)/SKMS팀/SKI</dc:creator>
  <cp:lastModifiedBy>박병욱(BYUNGWOOK PARK)/SKMS팀/SKI</cp:lastModifiedBy>
  <cp:revision>7</cp:revision>
  <cp:lastPrinted>2026-09-29T07:39:33Z</cp:lastPrinted>
  <dcterms:created xsi:type="dcterms:W3CDTF">2026-08-18T06:29:51Z</dcterms:created>
  <dcterms:modified xsi:type="dcterms:W3CDTF">2026-10-02T06:45:59Z</dcterms:modified>
</cp:coreProperties>
</file>